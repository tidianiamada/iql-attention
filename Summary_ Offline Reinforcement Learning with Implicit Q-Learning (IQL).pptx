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Roboto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QLh5Zs1mLLnyxXUnNYTGiuxxa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7.xml"/><Relationship Id="rId22" Type="http://schemas.openxmlformats.org/officeDocument/2006/relationships/font" Target="fonts/OpenSans-italic.fntdata"/><Relationship Id="rId10" Type="http://schemas.openxmlformats.org/officeDocument/2006/relationships/slide" Target="slides/slide6.xml"/><Relationship Id="rId21" Type="http://schemas.openxmlformats.org/officeDocument/2006/relationships/font" Target="fonts/OpenSans-bold.fntdata"/><Relationship Id="rId13" Type="http://schemas.openxmlformats.org/officeDocument/2006/relationships/font" Target="fonts/Roboto-bold.fntdata"/><Relationship Id="rId24" Type="http://customschemas.google.com/relationships/presentationmetadata" Target="metadata"/><Relationship Id="rId12" Type="http://schemas.openxmlformats.org/officeDocument/2006/relationships/font" Target="fonts/Roboto-regular.fntdata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31.png"/><Relationship Id="rId7" Type="http://schemas.openxmlformats.org/officeDocument/2006/relationships/image" Target="../media/image4.pn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2" Type="http://schemas.openxmlformats.org/officeDocument/2006/relationships/image" Target="../media/image10.png"/><Relationship Id="rId9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22.png"/><Relationship Id="rId13" Type="http://schemas.openxmlformats.org/officeDocument/2006/relationships/image" Target="../media/image28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32.png"/><Relationship Id="rId15" Type="http://schemas.openxmlformats.org/officeDocument/2006/relationships/image" Target="../media/image36.png"/><Relationship Id="rId14" Type="http://schemas.openxmlformats.org/officeDocument/2006/relationships/image" Target="../media/image26.png"/><Relationship Id="rId17" Type="http://schemas.openxmlformats.org/officeDocument/2006/relationships/image" Target="../media/image27.png"/><Relationship Id="rId16" Type="http://schemas.openxmlformats.org/officeDocument/2006/relationships/image" Target="../media/image33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18" Type="http://schemas.openxmlformats.org/officeDocument/2006/relationships/image" Target="../media/image30.png"/><Relationship Id="rId7" Type="http://schemas.openxmlformats.org/officeDocument/2006/relationships/image" Target="../media/image34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44.png"/><Relationship Id="rId13" Type="http://schemas.openxmlformats.org/officeDocument/2006/relationships/image" Target="../media/image40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9" Type="http://schemas.openxmlformats.org/officeDocument/2006/relationships/image" Target="../media/image42.png"/><Relationship Id="rId5" Type="http://schemas.openxmlformats.org/officeDocument/2006/relationships/image" Target="../media/image52.png"/><Relationship Id="rId6" Type="http://schemas.openxmlformats.org/officeDocument/2006/relationships/image" Target="../media/image35.png"/><Relationship Id="rId7" Type="http://schemas.openxmlformats.org/officeDocument/2006/relationships/image" Target="../media/image39.png"/><Relationship Id="rId8" Type="http://schemas.openxmlformats.org/officeDocument/2006/relationships/image" Target="../media/image6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4.png"/><Relationship Id="rId5" Type="http://schemas.openxmlformats.org/officeDocument/2006/relationships/image" Target="../media/image43.png"/><Relationship Id="rId6" Type="http://schemas.openxmlformats.org/officeDocument/2006/relationships/image" Target="../media/image41.png"/><Relationship Id="rId7" Type="http://schemas.openxmlformats.org/officeDocument/2006/relationships/image" Target="../media/image50.png"/><Relationship Id="rId8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59.png"/><Relationship Id="rId11" Type="http://schemas.openxmlformats.org/officeDocument/2006/relationships/image" Target="../media/image67.png"/><Relationship Id="rId10" Type="http://schemas.openxmlformats.org/officeDocument/2006/relationships/image" Target="../media/image65.png"/><Relationship Id="rId13" Type="http://schemas.openxmlformats.org/officeDocument/2006/relationships/image" Target="../media/image56.png"/><Relationship Id="rId1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7.png"/><Relationship Id="rId9" Type="http://schemas.openxmlformats.org/officeDocument/2006/relationships/image" Target="../media/image49.png"/><Relationship Id="rId15" Type="http://schemas.openxmlformats.org/officeDocument/2006/relationships/image" Target="../media/image53.png"/><Relationship Id="rId14" Type="http://schemas.openxmlformats.org/officeDocument/2006/relationships/image" Target="../media/image61.png"/><Relationship Id="rId17" Type="http://schemas.openxmlformats.org/officeDocument/2006/relationships/image" Target="../media/image63.png"/><Relationship Id="rId16" Type="http://schemas.openxmlformats.org/officeDocument/2006/relationships/image" Target="../media/image66.png"/><Relationship Id="rId5" Type="http://schemas.openxmlformats.org/officeDocument/2006/relationships/image" Target="../media/image71.png"/><Relationship Id="rId19" Type="http://schemas.openxmlformats.org/officeDocument/2006/relationships/image" Target="../media/image58.png"/><Relationship Id="rId6" Type="http://schemas.openxmlformats.org/officeDocument/2006/relationships/image" Target="../media/image48.png"/><Relationship Id="rId18" Type="http://schemas.openxmlformats.org/officeDocument/2006/relationships/image" Target="../media/image69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75.png"/><Relationship Id="rId10" Type="http://schemas.openxmlformats.org/officeDocument/2006/relationships/image" Target="../media/image76.png"/><Relationship Id="rId13" Type="http://schemas.openxmlformats.org/officeDocument/2006/relationships/image" Target="../media/image81.png"/><Relationship Id="rId1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3.png"/><Relationship Id="rId9" Type="http://schemas.openxmlformats.org/officeDocument/2006/relationships/image" Target="../media/image70.png"/><Relationship Id="rId15" Type="http://schemas.openxmlformats.org/officeDocument/2006/relationships/image" Target="../media/image77.png"/><Relationship Id="rId14" Type="http://schemas.openxmlformats.org/officeDocument/2006/relationships/image" Target="../media/image83.png"/><Relationship Id="rId17" Type="http://schemas.openxmlformats.org/officeDocument/2006/relationships/image" Target="../media/image85.png"/><Relationship Id="rId16" Type="http://schemas.openxmlformats.org/officeDocument/2006/relationships/image" Target="../media/image84.png"/><Relationship Id="rId5" Type="http://schemas.openxmlformats.org/officeDocument/2006/relationships/image" Target="../media/image72.png"/><Relationship Id="rId19" Type="http://schemas.openxmlformats.org/officeDocument/2006/relationships/image" Target="../media/image78.png"/><Relationship Id="rId6" Type="http://schemas.openxmlformats.org/officeDocument/2006/relationships/image" Target="../media/image68.png"/><Relationship Id="rId18" Type="http://schemas.openxmlformats.org/officeDocument/2006/relationships/image" Target="../media/image79.png"/><Relationship Id="rId7" Type="http://schemas.openxmlformats.org/officeDocument/2006/relationships/image" Target="../media/image74.png"/><Relationship Id="rId8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3637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293465"/>
            <a:ext cx="1097161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1961" y="3131344"/>
            <a:ext cx="1097161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6863" y="5554861"/>
            <a:ext cx="5144988" cy="13029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1177" y="6322963"/>
            <a:ext cx="1633686" cy="349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" name="Google Shape;22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32055" y="980629"/>
            <a:ext cx="3840361" cy="392266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1353294" y="658267"/>
            <a:ext cx="8315325" cy="212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477"/>
              </a:buClr>
              <a:buSzPts val="1350"/>
              <a:buFont typeface="Montserrat"/>
              <a:buNone/>
            </a:pPr>
            <a:r>
              <a:rPr b="1" lang="en-US" sz="1350">
                <a:solidFill>
                  <a:srgbClr val="E5C477"/>
                </a:solidFill>
                <a:latin typeface="Montserrat"/>
                <a:ea typeface="Montserrat"/>
                <a:cs typeface="Montserrat"/>
                <a:sym typeface="Montserrat"/>
              </a:rPr>
              <a:t>MSDA IIA </a:t>
            </a:r>
            <a:r>
              <a:rPr b="1" i="0" lang="en-US" sz="1350" u="none" cap="none" strike="noStrike">
                <a:solidFill>
                  <a:srgbClr val="E5C477"/>
                </a:solidFill>
                <a:latin typeface="Montserrat"/>
                <a:ea typeface="Montserrat"/>
                <a:cs typeface="Montserrat"/>
                <a:sym typeface="Montserrat"/>
              </a:rPr>
              <a:t> · </a:t>
            </a:r>
            <a:r>
              <a:rPr b="1" lang="en-US" sz="1350">
                <a:solidFill>
                  <a:srgbClr val="E5C477"/>
                </a:solidFill>
                <a:latin typeface="Montserrat"/>
                <a:ea typeface="Montserrat"/>
                <a:cs typeface="Montserrat"/>
                <a:sym typeface="Montserrat"/>
              </a:rPr>
              <a:t>REINFORCEMENT LEARNING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353294" y="1097161"/>
            <a:ext cx="4827984" cy="1782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1F3F"/>
              </a:buClr>
              <a:buSzPts val="3150"/>
              <a:buFont typeface="Montserrat"/>
              <a:buNone/>
            </a:pPr>
            <a:r>
              <a:rPr b="1" i="0" lang="en-US" sz="31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Offline Reinforcement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1F3F"/>
              </a:buClr>
              <a:buSzPts val="3150"/>
              <a:buFont typeface="Montserrat"/>
              <a:buNone/>
            </a:pPr>
            <a:r>
              <a:rPr b="1" i="0" lang="en-US" sz="31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Learning with Implicit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1F3F"/>
              </a:buClr>
              <a:buSzPts val="3150"/>
              <a:buFont typeface="Montserrat"/>
              <a:buNone/>
            </a:pPr>
            <a:r>
              <a:rPr b="1" i="0" lang="en-US" sz="31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Q-Learning (IQL)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341090" y="3367236"/>
            <a:ext cx="10382250" cy="233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Présentation de l'article de Kostrikov et 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341090" y="3668911"/>
            <a:ext cx="10850910" cy="246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introduisant une méthode de RL offline performante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341090" y="3977580"/>
            <a:ext cx="10382250" cy="25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basée sur la régression expectile pour éviter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341090" y="4293096"/>
            <a:ext cx="7867650" cy="239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l'extrapolation hors-distribution.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005260" y="5339472"/>
            <a:ext cx="76980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50"/>
              <a:buFont typeface="Open Sans"/>
              <a:buNone/>
            </a:pPr>
            <a:r>
              <a:rPr lang="en-US" sz="145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Cheikh Ahmadou Tidiani TOP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938659" y="6391573"/>
            <a:ext cx="4337685" cy="212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50"/>
              <a:buFont typeface="Open Sans"/>
              <a:buNone/>
            </a:pPr>
            <a:r>
              <a:rPr lang="en-US" sz="135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UIDT</a:t>
            </a:r>
            <a:r>
              <a:rPr b="0" i="0" lang="en-US" sz="135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 · 202</a:t>
            </a:r>
            <a:r>
              <a:rPr lang="en-US" sz="135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350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" name="Google Shape;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30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" name="Google Shape;3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780" y="383977"/>
            <a:ext cx="158353" cy="81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" name="Google Shape;3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7875" y="1460748"/>
            <a:ext cx="5547271" cy="42244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" name="Google Shape;4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8055" y="1460748"/>
            <a:ext cx="5656957" cy="42244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" name="Google Shape;41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7875" y="5877223"/>
            <a:ext cx="11387286" cy="4662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" name="Google Shape;42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6542484"/>
            <a:ext cx="828973" cy="3153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" name="Google Shape;43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43459" y="5932140"/>
            <a:ext cx="341263" cy="356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" name="Google Shape;44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34894" y="2098477"/>
            <a:ext cx="5108377" cy="22699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" name="Google Shape;45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18965" y="2098477"/>
            <a:ext cx="2889498" cy="105608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11233696" y="287982"/>
            <a:ext cx="763042" cy="198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9B949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F9B949"/>
                </a:solidFill>
                <a:latin typeface="Roboto"/>
                <a:ea typeface="Roboto"/>
                <a:cs typeface="Roboto"/>
                <a:sym typeface="Roboto"/>
              </a:rPr>
              <a:t>02 / 11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02282" y="452586"/>
            <a:ext cx="11789718" cy="370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49"/>
              </a:buClr>
              <a:buSzPts val="2700"/>
              <a:buFont typeface="Roboto"/>
              <a:buNone/>
            </a:pPr>
            <a:r>
              <a:rPr b="1" i="0" lang="en-US" sz="2700" u="none" cap="none" strike="noStrike">
                <a:solidFill>
                  <a:srgbClr val="0D2149"/>
                </a:solidFill>
                <a:latin typeface="Roboto"/>
                <a:ea typeface="Roboto"/>
                <a:cs typeface="Roboto"/>
                <a:sym typeface="Roboto"/>
              </a:rPr>
              <a:t>Introduction au Offline RL et Distribution Shift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02282" y="912019"/>
            <a:ext cx="11789718" cy="267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Pourquoi l'apprentissage hors-ligne est-il difficile 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342257" y="1639044"/>
            <a:ext cx="1277243" cy="26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49"/>
              </a:buClr>
              <a:buSzPts val="1875"/>
              <a:buFont typeface="Roboto"/>
              <a:buNone/>
            </a:pPr>
            <a:r>
              <a:rPr b="1" i="0" lang="en-US" sz="1875" u="none" cap="none" strike="noStrike">
                <a:solidFill>
                  <a:srgbClr val="0D2149"/>
                </a:solidFill>
                <a:latin typeface="Roboto"/>
                <a:ea typeface="Roboto"/>
                <a:cs typeface="Roboto"/>
                <a:sym typeface="Roboto"/>
              </a:rPr>
              <a:t>Offline RL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58267" y="3470077"/>
            <a:ext cx="11533733" cy="25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75"/>
              <a:buFont typeface="Roboto"/>
              <a:buNone/>
            </a:pPr>
            <a:r>
              <a:rPr b="0" i="0" lang="en-US" sz="1575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■ Dataset fixe D = {(s, a, r, s'')} — collected beforehand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58267" y="3943350"/>
            <a:ext cx="9941243" cy="212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75"/>
              <a:buFont typeface="Roboto"/>
              <a:buNone/>
            </a:pPr>
            <a:r>
              <a:rPr b="0" i="0" lang="en-US" sz="1575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■ Aucune interaction avec l'environnement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58267" y="4389090"/>
            <a:ext cx="10181273" cy="233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75"/>
              <a:buFont typeface="Roboto"/>
              <a:buNone/>
            </a:pPr>
            <a:r>
              <a:rPr b="0" i="0" lang="en-US" sz="1575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■ Utile en robotique, logistique, médecine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414165" y="4930825"/>
            <a:ext cx="3340596" cy="54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"L'agent ne peut pas explorer — il doit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apprendre des données existantes."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743230" y="1645890"/>
            <a:ext cx="2045345" cy="26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49"/>
              </a:buClr>
              <a:buSzPts val="1875"/>
              <a:buFont typeface="Roboto"/>
              <a:buNone/>
            </a:pPr>
            <a:r>
              <a:rPr b="1" i="0" lang="en-US" sz="1875" u="none" cap="none" strike="noStrike">
                <a:solidFill>
                  <a:srgbClr val="0D2149"/>
                </a:solidFill>
                <a:latin typeface="Roboto"/>
                <a:ea typeface="Roboto"/>
                <a:cs typeface="Roboto"/>
                <a:sym typeface="Roboto"/>
              </a:rPr>
              <a:t>Distribution Shift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315373" y="4656534"/>
            <a:ext cx="5876627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▶ Q(s', a_unknown) → surestimation massive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327577" y="5143500"/>
            <a:ext cx="5864423" cy="26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▶ L'agent croit à tort qu'une action inconnue est optimale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621482" y="6000750"/>
            <a:ext cx="10570518" cy="25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49"/>
              </a:buClr>
              <a:buSzPts val="1650"/>
              <a:buFont typeface="Roboto"/>
              <a:buNone/>
            </a:pPr>
            <a:r>
              <a:rPr b="1" i="0" lang="en-US" sz="1650" u="none" cap="none" strike="noStrike">
                <a:solidFill>
                  <a:srgbClr val="0D2149"/>
                </a:solidFill>
                <a:latin typeface="Roboto"/>
                <a:ea typeface="Roboto"/>
                <a:cs typeface="Roboto"/>
                <a:sym typeface="Roboto"/>
              </a:rPr>
              <a:t>Problème central : le Q-Learning standard doit évaluer des actions jamais vues dans le dataset.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5835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" name="Google Shape;6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0784" y="425053"/>
            <a:ext cx="146298" cy="64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" name="Google Shape;6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31067" y="143917"/>
            <a:ext cx="560784" cy="150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" name="Google Shape;6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1177" y="1446907"/>
            <a:ext cx="3986659" cy="3867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" name="Google Shape;68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177" y="1446907"/>
            <a:ext cx="3986659" cy="4113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" name="Google Shape;69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5271" y="3355628"/>
            <a:ext cx="3718471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" name="Google Shape;70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5271" y="4281488"/>
            <a:ext cx="3718471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120580" y="1446907"/>
            <a:ext cx="3986659" cy="3867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120580" y="1446907"/>
            <a:ext cx="3986659" cy="4113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" name="Google Shape;73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254675" y="3355628"/>
            <a:ext cx="3718471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254675" y="4281488"/>
            <a:ext cx="3718471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41177" y="5520630"/>
            <a:ext cx="10704463" cy="1069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" name="Google Shape;76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07082" y="5520630"/>
            <a:ext cx="146298" cy="1069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p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36290" y="5698927"/>
            <a:ext cx="828973" cy="761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" name="Google Shape;78;p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448800" y="2235696"/>
            <a:ext cx="2121396" cy="196810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828973" y="390823"/>
            <a:ext cx="11363027" cy="377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4E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00204E"/>
                </a:solidFill>
                <a:latin typeface="Montserrat"/>
                <a:ea typeface="Montserrat"/>
                <a:cs typeface="Montserrat"/>
                <a:sym typeface="Montserrat"/>
              </a:rPr>
              <a:t>Limites des Méthodes Existantes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28973" y="891480"/>
            <a:ext cx="11195685" cy="226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Deux familles d'approches — chacune avec ses compromis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682353" y="1549896"/>
            <a:ext cx="5353050" cy="233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Contrainte de Politique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133773" y="2029867"/>
            <a:ext cx="3672840" cy="185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2A93B"/>
                </a:solidFill>
                <a:latin typeface="Montserrat"/>
                <a:ea typeface="Montserrat"/>
                <a:cs typeface="Montserrat"/>
                <a:sym typeface="Montserrat"/>
              </a:rPr>
              <a:t>BCQ · AWAC · TD3+BC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133773" y="2489448"/>
            <a:ext cx="1447800" cy="150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25"/>
              <a:buFont typeface="Montserrat"/>
              <a:buNone/>
            </a:pPr>
            <a:r>
              <a:rPr b="1" i="0" lang="en-US" sz="1125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PRINCIPE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133773" y="2729359"/>
            <a:ext cx="3060055" cy="356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4E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00204E"/>
                </a:solidFill>
                <a:latin typeface="Montserrat"/>
                <a:ea typeface="Montserrat"/>
                <a:cs typeface="Montserrat"/>
                <a:sym typeface="Montserrat"/>
              </a:rPr>
              <a:t>Rester proche du comportement observé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4E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00204E"/>
                </a:solidFill>
                <a:latin typeface="Montserrat"/>
                <a:ea typeface="Montserrat"/>
                <a:cs typeface="Montserrat"/>
                <a:sym typeface="Montserrat"/>
              </a:rPr>
              <a:t>dans le dataset — imitation contrainte.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145977" y="3518148"/>
            <a:ext cx="1790700" cy="150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125"/>
              <a:buFont typeface="Montserrat"/>
              <a:buNone/>
            </a:pPr>
            <a:r>
              <a:rPr b="1" i="0" lang="en-US" sz="1125" u="none" cap="none" strike="noStrike">
                <a:solidFill>
                  <a:srgbClr val="28A745"/>
                </a:solidFill>
                <a:latin typeface="Montserrat"/>
                <a:ea typeface="Montserrat"/>
                <a:cs typeface="Montserrat"/>
                <a:sym typeface="Montserrat"/>
              </a:rPr>
              <a:t>✓ AVANTAGE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133773" y="3744367"/>
            <a:ext cx="8122920" cy="191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4E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00204E"/>
                </a:solidFill>
                <a:latin typeface="Montserrat"/>
                <a:ea typeface="Montserrat"/>
                <a:cs typeface="Montserrat"/>
                <a:sym typeface="Montserrat"/>
              </a:rPr>
              <a:t>Évite les actions trop éloignées du dataset.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1145977" y="4334173"/>
            <a:ext cx="1447800" cy="150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1125"/>
              <a:buFont typeface="Montserrat"/>
              <a:buNone/>
            </a:pPr>
            <a:r>
              <a:rPr b="1" i="0" lang="en-US" sz="1125" u="none" cap="none" strike="noStrike">
                <a:solidFill>
                  <a:srgbClr val="DC3545"/>
                </a:solidFill>
                <a:latin typeface="Montserrat"/>
                <a:ea typeface="Montserrat"/>
                <a:cs typeface="Montserrat"/>
                <a:sym typeface="Montserrat"/>
              </a:rPr>
              <a:t>✕ LIMITE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133773" y="4560540"/>
            <a:ext cx="3340596" cy="541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4E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00204E"/>
                </a:solidFill>
                <a:latin typeface="Montserrat"/>
                <a:ea typeface="Montserrat"/>
                <a:cs typeface="Montserrat"/>
                <a:sym typeface="Montserrat"/>
              </a:rPr>
              <a:t>Doit encore évaluer Q(s, a) lors 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4E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00204E"/>
                </a:solidFill>
                <a:latin typeface="Montserrat"/>
                <a:ea typeface="Montserrat"/>
                <a:cs typeface="Montserrat"/>
                <a:sym typeface="Montserrat"/>
              </a:rPr>
              <a:t>l'optimisation — des actions hors-distribution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4E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00204E"/>
                </a:solidFill>
                <a:latin typeface="Montserrat"/>
                <a:ea typeface="Montserrat"/>
                <a:cs typeface="Montserrat"/>
                <a:sym typeface="Montserrat"/>
              </a:rPr>
              <a:t>peuvent apparaître.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669161" y="1549896"/>
            <a:ext cx="6267450" cy="233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Régularisation des Q-values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400973" y="2029867"/>
            <a:ext cx="5379720" cy="191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2A93B"/>
                </a:solidFill>
                <a:latin typeface="Montserrat"/>
                <a:ea typeface="Montserrat"/>
                <a:cs typeface="Montserrat"/>
                <a:sym typeface="Montserrat"/>
              </a:rPr>
              <a:t>CQL — Conservative Q-Learning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400973" y="2489448"/>
            <a:ext cx="1447800" cy="150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25"/>
              <a:buFont typeface="Montserrat"/>
              <a:buNone/>
            </a:pPr>
            <a:r>
              <a:rPr b="1" i="0" lang="en-US" sz="1125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PRINCIPE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400973" y="2722513"/>
            <a:ext cx="3133279" cy="534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4E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00204E"/>
                </a:solidFill>
                <a:latin typeface="Montserrat"/>
                <a:ea typeface="Montserrat"/>
                <a:cs typeface="Montserrat"/>
                <a:sym typeface="Montserrat"/>
              </a:rPr>
              <a:t>Pénaliser explicitement les Q-values 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4E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00204E"/>
                </a:solidFill>
                <a:latin typeface="Montserrat"/>
                <a:ea typeface="Montserrat"/>
                <a:cs typeface="Montserrat"/>
                <a:sym typeface="Montserrat"/>
              </a:rPr>
              <a:t>actions hors-distribution pour les abaisser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4E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00204E"/>
                </a:solidFill>
                <a:latin typeface="Montserrat"/>
                <a:ea typeface="Montserrat"/>
                <a:cs typeface="Montserrat"/>
                <a:sym typeface="Montserrat"/>
              </a:rPr>
              <a:t>artificiellement.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400973" y="3518148"/>
            <a:ext cx="1790700" cy="150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125"/>
              <a:buFont typeface="Montserrat"/>
              <a:buNone/>
            </a:pPr>
            <a:r>
              <a:rPr b="1" i="0" lang="en-US" sz="1125" u="none" cap="none" strike="noStrike">
                <a:solidFill>
                  <a:srgbClr val="28A745"/>
                </a:solidFill>
                <a:latin typeface="Montserrat"/>
                <a:ea typeface="Montserrat"/>
                <a:cs typeface="Montserrat"/>
                <a:sym typeface="Montserrat"/>
              </a:rPr>
              <a:t>✓ AVANTAGE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400973" y="3758059"/>
            <a:ext cx="2828479" cy="34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4E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00204E"/>
                </a:solidFill>
                <a:latin typeface="Montserrat"/>
                <a:ea typeface="Montserrat"/>
                <a:cs typeface="Montserrat"/>
                <a:sym typeface="Montserrat"/>
              </a:rPr>
              <a:t>Empêche la surestimation des 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4E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00204E"/>
                </a:solidFill>
                <a:latin typeface="Montserrat"/>
                <a:ea typeface="Montserrat"/>
                <a:cs typeface="Montserrat"/>
                <a:sym typeface="Montserrat"/>
              </a:rPr>
              <a:t>inconnues.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400973" y="4478238"/>
            <a:ext cx="1447800" cy="150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1125"/>
              <a:buFont typeface="Montserrat"/>
              <a:buNone/>
            </a:pPr>
            <a:r>
              <a:rPr b="1" i="0" lang="en-US" sz="1125" u="none" cap="none" strike="noStrike">
                <a:solidFill>
                  <a:srgbClr val="DC3545"/>
                </a:solidFill>
                <a:latin typeface="Montserrat"/>
                <a:ea typeface="Montserrat"/>
                <a:cs typeface="Montserrat"/>
                <a:sym typeface="Montserrat"/>
              </a:rPr>
              <a:t>✕ LIMITE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400973" y="4711303"/>
            <a:ext cx="3255169" cy="377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4E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00204E"/>
                </a:solidFill>
                <a:latin typeface="Montserrat"/>
                <a:ea typeface="Montserrat"/>
                <a:cs typeface="Montserrat"/>
                <a:sym typeface="Montserrat"/>
              </a:rPr>
              <a:t>Calcul très coûteux — environ 80 min pour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4E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00204E"/>
                </a:solidFill>
                <a:latin typeface="Montserrat"/>
                <a:ea typeface="Montserrat"/>
                <a:cs typeface="Montserrat"/>
                <a:sym typeface="Montserrat"/>
              </a:rPr>
              <a:t>1M de mises à jour, contre 20 min pour IQL.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194471" y="5678388"/>
            <a:ext cx="7080885" cy="198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F2A93B"/>
                </a:solidFill>
                <a:latin typeface="Montserrat"/>
                <a:ea typeface="Montserrat"/>
                <a:cs typeface="Montserrat"/>
                <a:sym typeface="Montserrat"/>
              </a:rPr>
              <a:t>PROBLÈME COMMUN AUX DEUX APPROCHES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2182267" y="5966371"/>
            <a:ext cx="8290471" cy="493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Toutes ces méthodes doivent, à un moment ou un autre, évaluer Q(s, a) pour des actions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potentiellement jamais vues dans le dataset — exposant le modèle au risque d'extrapolation.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164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780" y="363438"/>
            <a:ext cx="60871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0392" y="1309836"/>
            <a:ext cx="11582400" cy="98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8" name="Google Shape;10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86475" y="2578596"/>
            <a:ext cx="19050" cy="25099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9" name="Google Shape;109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267" y="2962573"/>
            <a:ext cx="4827984" cy="8228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0" name="Google Shape;110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3875" y="2962573"/>
            <a:ext cx="4974282" cy="8228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" name="Google Shape;111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0392" y="5335488"/>
            <a:ext cx="11582400" cy="12892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10400" y="4004965"/>
            <a:ext cx="329059" cy="30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7553" y="3991273"/>
            <a:ext cx="341263" cy="3153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4" name="Google Shape;114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97161" y="3127177"/>
            <a:ext cx="3901380" cy="48681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402282" y="342900"/>
            <a:ext cx="8812530" cy="370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D42"/>
              </a:buClr>
              <a:buSzPts val="2700"/>
              <a:buFont typeface="Roboto"/>
              <a:buNone/>
            </a:pPr>
            <a:r>
              <a:rPr b="1" i="0" lang="en-US" sz="2700" u="none" cap="none" strike="noStrike">
                <a:solidFill>
                  <a:srgbClr val="001D42"/>
                </a:solidFill>
                <a:latin typeface="Roboto"/>
                <a:ea typeface="Roboto"/>
                <a:cs typeface="Roboto"/>
                <a:sym typeface="Roboto"/>
              </a:rPr>
              <a:t>L'Idée Centrale d'IQL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02282" y="829717"/>
            <a:ext cx="11789718" cy="246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Remplacer l'opérateur max par une estimation implicite via l'expectile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902196" y="1529209"/>
            <a:ext cx="11289804" cy="294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D42"/>
              </a:buClr>
              <a:buSzPts val="1950"/>
              <a:buFont typeface="Roboto"/>
              <a:buNone/>
            </a:pPr>
            <a:r>
              <a:rPr b="1" i="0" lang="en-US" sz="1950" u="none" cap="none" strike="noStrike">
                <a:solidFill>
                  <a:srgbClr val="001D42"/>
                </a:solidFill>
                <a:latin typeface="Roboto"/>
                <a:ea typeface="Roboto"/>
                <a:cs typeface="Roboto"/>
                <a:sym typeface="Roboto"/>
              </a:rPr>
              <a:t>« Peut-on faire du Q-Learning multi-step sans jamais interroger une action hors du dataset ? »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242965" y="1913334"/>
            <a:ext cx="8949035" cy="246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B000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F9B000"/>
                </a:solidFill>
                <a:latin typeface="Roboto"/>
                <a:ea typeface="Roboto"/>
                <a:cs typeface="Roboto"/>
                <a:sym typeface="Roboto"/>
              </a:rPr>
              <a:t>— Question centrale de l'article (Kostrikov et al., 2021)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840855" y="2605980"/>
            <a:ext cx="4379595" cy="226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50"/>
              <a:buFont typeface="Roboto"/>
              <a:buNone/>
            </a:pPr>
            <a:r>
              <a:rPr b="1" i="0" lang="en-US" sz="165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APPROCHE STANDARD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779984" y="4032498"/>
            <a:ext cx="8171498" cy="25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725"/>
              <a:buFont typeface="Roboto"/>
              <a:buNone/>
            </a:pPr>
            <a:r>
              <a:rPr b="1" i="0" lang="en-US" sz="1725" u="none" cap="none" strike="noStrike">
                <a:solidFill>
                  <a:srgbClr val="D9534F"/>
                </a:solidFill>
                <a:latin typeface="Roboto"/>
                <a:ea typeface="Roboto"/>
                <a:cs typeface="Roboto"/>
                <a:sym typeface="Roboto"/>
              </a:rPr>
              <a:t>⚠ a' peut être hors du dataset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426369" y="4471392"/>
            <a:ext cx="6642735" cy="239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→ Extrapolation dangereuse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426369" y="4821138"/>
            <a:ext cx="7145655" cy="212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→ Surestimation des Q-values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8156377" y="2605980"/>
            <a:ext cx="3122295" cy="226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B000"/>
              </a:buClr>
              <a:buSzPts val="1650"/>
              <a:buFont typeface="Roboto"/>
              <a:buNone/>
            </a:pPr>
            <a:r>
              <a:rPr b="1" i="0" lang="en-US" sz="1650" u="none" cap="none" strike="noStrike">
                <a:solidFill>
                  <a:srgbClr val="F9B000"/>
                </a:solidFill>
                <a:latin typeface="Roboto"/>
                <a:ea typeface="Roboto"/>
                <a:cs typeface="Roboto"/>
                <a:sym typeface="Roboto"/>
              </a:rPr>
              <a:t>APPROCHE IQL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7010400" y="3127177"/>
            <a:ext cx="3840361" cy="507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1D42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001D42"/>
                </a:solidFill>
                <a:latin typeface="Calibri"/>
                <a:ea typeface="Calibri"/>
                <a:cs typeface="Calibri"/>
                <a:sym typeface="Calibri"/>
              </a:rPr>
              <a:t>V(s) ← Expectileτ [Q(s, a) ]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1D42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001D42"/>
                </a:solidFill>
                <a:latin typeface="Calibri"/>
                <a:ea typeface="Calibri"/>
                <a:cs typeface="Calibri"/>
                <a:sym typeface="Calibri"/>
              </a:rPr>
              <a:t>a ∈ dataset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388275" y="4032498"/>
            <a:ext cx="4803725" cy="253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9D44"/>
              </a:buClr>
              <a:buSzPts val="1650"/>
              <a:buFont typeface="Roboto"/>
              <a:buNone/>
            </a:pPr>
            <a:r>
              <a:rPr b="1" i="0" lang="en-US" sz="1650" u="none" cap="none" strike="noStrike">
                <a:solidFill>
                  <a:srgbClr val="449D44"/>
                </a:solidFill>
                <a:latin typeface="Roboto"/>
                <a:ea typeface="Roboto"/>
                <a:cs typeface="Roboto"/>
                <a:sym typeface="Roboto"/>
              </a:rPr>
              <a:t>✔ Uniquement les actions observées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034659" y="4464546"/>
            <a:ext cx="5157341" cy="226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→ Estimation implicite du max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034659" y="4814292"/>
            <a:ext cx="5157341" cy="21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→ Aucune extrapolation hors-distribution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376565" y="5458867"/>
            <a:ext cx="3001328" cy="246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B000"/>
              </a:buClr>
              <a:buSzPts val="1725"/>
              <a:buFont typeface="Roboto"/>
              <a:buNone/>
            </a:pPr>
            <a:r>
              <a:rPr b="1" i="0" lang="en-US" sz="1725" u="none" cap="none" strike="noStrike">
                <a:solidFill>
                  <a:srgbClr val="F9B000"/>
                </a:solidFill>
                <a:latin typeface="Roboto"/>
                <a:ea typeface="Roboto"/>
                <a:cs typeface="Roboto"/>
                <a:sym typeface="Roboto"/>
              </a:rPr>
              <a:t>INSIGHT CLÉ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158180" y="5842992"/>
            <a:ext cx="11033820" cy="281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D42"/>
              </a:buClr>
              <a:buSzPts val="1950"/>
              <a:buFont typeface="Roboto"/>
              <a:buNone/>
            </a:pPr>
            <a:r>
              <a:rPr b="1" i="0" lang="en-US" sz="1950" u="none" cap="none" strike="noStrike">
                <a:solidFill>
                  <a:srgbClr val="001D42"/>
                </a:solidFill>
                <a:latin typeface="Roboto"/>
                <a:ea typeface="Roboto"/>
                <a:cs typeface="Roboto"/>
                <a:sym typeface="Roboto"/>
              </a:rPr>
              <a:t>L'expectile supérieur (τ → 1) approche implicitement le max sur les actions du dataset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023592" y="6268194"/>
            <a:ext cx="9168408" cy="267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Sans jamais évaluer Q(s', a') pour une action a' non observée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8276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192" y="877788"/>
            <a:ext cx="1511796" cy="34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55255" y="5657850"/>
            <a:ext cx="6681192" cy="89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0" name="Google Shape;14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04377" y="6494413"/>
            <a:ext cx="987475" cy="3634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1" name="Google Shape;14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3694" y="1577280"/>
            <a:ext cx="10923984" cy="386104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/>
          <p:nvPr/>
        </p:nvSpPr>
        <p:spPr>
          <a:xfrm>
            <a:off x="524173" y="329059"/>
            <a:ext cx="11667827" cy="438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B"/>
              </a:buClr>
              <a:buSzPts val="3000"/>
              <a:buFont typeface="Roboto"/>
              <a:buNone/>
            </a:pPr>
            <a:r>
              <a:rPr b="1" i="0" lang="en-US" sz="3000" u="none" cap="none" strike="noStrike">
                <a:solidFill>
                  <a:srgbClr val="002D5B"/>
                </a:solidFill>
                <a:latin typeface="Roboto"/>
                <a:ea typeface="Roboto"/>
                <a:cs typeface="Roboto"/>
                <a:sym typeface="Roboto"/>
              </a:rPr>
              <a:t>Positionnement entre SARSA et Q-Learning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24173" y="1042392"/>
            <a:ext cx="11667827" cy="233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rPr>
              <a:t>IQL crée un continuum paramétré par τ entre sécurité et optimalité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706267" y="5774382"/>
            <a:ext cx="4486573" cy="404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D5B"/>
              </a:buClr>
              <a:buSzPts val="1350"/>
              <a:buFont typeface="Roboto"/>
              <a:buNone/>
            </a:pPr>
            <a:r>
              <a:rPr b="1" i="0" lang="en-US" sz="1350" u="none" cap="none" strike="noStrike">
                <a:solidFill>
                  <a:srgbClr val="002D5B"/>
                </a:solidFill>
                <a:latin typeface="Roboto"/>
                <a:ea typeface="Roboto"/>
                <a:cs typeface="Roboto"/>
                <a:sym typeface="Roboto"/>
              </a:rPr>
              <a:t>Theorem 3 : lim Vτ(s) = max Q*(s, 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D5B"/>
              </a:buClr>
              <a:buSzPts val="1350"/>
              <a:buFont typeface="Roboto"/>
              <a:buNone/>
            </a:pPr>
            <a:r>
              <a:rPr b="1" i="0" lang="en-US" sz="1350" u="none" cap="none" strike="noStrike">
                <a:solidFill>
                  <a:srgbClr val="002D5B"/>
                </a:solidFill>
                <a:latin typeface="Roboto"/>
                <a:ea typeface="Roboto"/>
                <a:cs typeface="Roboto"/>
                <a:sym typeface="Roboto"/>
              </a:rPr>
              <a:t>τ→1 a ∈ dataset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3212306" y="6254353"/>
            <a:ext cx="5681811" cy="212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IQL récupère la politique optimale parmi les actions observées quand τ → 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1" name="Google Shape;1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2" name="Google Shape;15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2193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3" name="Google Shape;15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353" y="383977"/>
            <a:ext cx="134094" cy="335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4" name="Google Shape;15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561" y="1330375"/>
            <a:ext cx="5425380" cy="186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5" name="Google Shape;15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357" y="1330375"/>
            <a:ext cx="60871" cy="18721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6" name="Google Shape;156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60361" y="6569869"/>
            <a:ext cx="731490" cy="287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7" name="Google Shape;157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8894" y="3607296"/>
            <a:ext cx="5425440" cy="1565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8" name="Google Shape;158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6520" y="3607296"/>
            <a:ext cx="1809770" cy="371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391541" y="3607296"/>
            <a:ext cx="952511" cy="371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39302" y="3607296"/>
            <a:ext cx="1141078" cy="371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75631" y="3607296"/>
            <a:ext cx="1141077" cy="485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2" name="Google Shape;162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38894" y="4237745"/>
            <a:ext cx="5425440" cy="311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3" name="Google Shape;163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486928" y="4337159"/>
            <a:ext cx="798620" cy="1124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38894" y="4549162"/>
            <a:ext cx="5425440" cy="311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5" name="Google Shape;165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486928" y="4648576"/>
            <a:ext cx="1939698" cy="1124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6" name="Google Shape;166;p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339780" y="1110853"/>
            <a:ext cx="5547271" cy="47319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7" name="Google Shape;167;p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38894" y="6089898"/>
            <a:ext cx="5742384" cy="4868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58267" y="1988790"/>
            <a:ext cx="2877294" cy="78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486520" y="3607296"/>
            <a:ext cx="1809770" cy="371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945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: 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2391541" y="3607296"/>
            <a:ext cx="952511" cy="371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945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3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: 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439302" y="3607296"/>
            <a:ext cx="1141078" cy="371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94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: 8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675631" y="3607296"/>
            <a:ext cx="1141077" cy="485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12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: 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34145" y="4237745"/>
            <a:ext cx="2828928" cy="3114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25"/>
              <a:buFont typeface="Calibri"/>
              <a:buNone/>
            </a:pPr>
            <a:r>
              <a:rPr b="0" i="0" lang="en-US" sz="1125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Moyenne </a:t>
            </a:r>
            <a:r>
              <a:rPr b="0" i="0" lang="en-US" sz="11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(τ = 0.5)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2267715" y="4237745"/>
            <a:ext cx="790586" cy="3114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alibri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6.25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34145" y="4549162"/>
            <a:ext cx="3213739" cy="3114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25"/>
              <a:buFont typeface="Calibri"/>
              <a:buNone/>
            </a:pPr>
            <a:r>
              <a:rPr b="1" i="0" lang="en-US" sz="1125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Expectile (τ = 0.9)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2267715" y="4549162"/>
            <a:ext cx="790586" cy="3114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468D"/>
              </a:buClr>
              <a:buSzPts val="1125"/>
              <a:buFont typeface="Calibri"/>
              <a:buNone/>
            </a:pPr>
            <a:r>
              <a:rPr b="1" i="0" lang="en-US" sz="1125" u="none" cap="none" strike="noStrike">
                <a:solidFill>
                  <a:srgbClr val="1A468D"/>
                </a:solidFill>
                <a:latin typeface="Calibri"/>
                <a:ea typeface="Calibri"/>
                <a:cs typeface="Calibri"/>
                <a:sym typeface="Calibri"/>
              </a:rPr>
              <a:t>≈ 8.5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34145" y="4860580"/>
            <a:ext cx="1790721" cy="311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25"/>
              <a:buFont typeface="Calibri"/>
              <a:buNone/>
            </a:pPr>
            <a:r>
              <a:rPr b="0" i="0" lang="en-US" sz="1125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Maximum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2267715" y="4860580"/>
            <a:ext cx="790586" cy="311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alibri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26690" y="356592"/>
            <a:ext cx="11765310" cy="36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4D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0D2B4D"/>
                </a:solidFill>
                <a:latin typeface="Montserrat"/>
                <a:ea typeface="Montserrat"/>
                <a:cs typeface="Montserrat"/>
                <a:sym typeface="Montserrat"/>
              </a:rPr>
              <a:t>Intuition Mathématique de l'Expectile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14486" y="836563"/>
            <a:ext cx="11777514" cy="239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Une perte asymétrique pour approximer le maximum sans extrapolation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58267" y="1433215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C107"/>
                </a:solidFill>
                <a:latin typeface="Montserrat"/>
                <a:ea typeface="Montserrat"/>
                <a:cs typeface="Montserrat"/>
                <a:sym typeface="Montserrat"/>
              </a:rPr>
              <a:t>DÉFINITION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58267" y="1673275"/>
            <a:ext cx="7025640" cy="20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4D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0D2B4D"/>
                </a:solidFill>
                <a:latin typeface="Montserrat"/>
                <a:ea typeface="Montserrat"/>
                <a:cs typeface="Montserrat"/>
                <a:sym typeface="Montserrat"/>
              </a:rPr>
              <a:t>L'expectile τ de X est la solution à 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21655" y="2900809"/>
            <a:ext cx="11475720" cy="20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Pour τ &gt; 0.5, les résidus positifs (x &gt; mτ) sont sur-pondérés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38894" y="3408313"/>
            <a:ext cx="2819400" cy="164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4D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0D2B4D"/>
                </a:solidFill>
                <a:latin typeface="Montserrat"/>
                <a:ea typeface="Montserrat"/>
                <a:cs typeface="Montserrat"/>
                <a:sym typeface="Montserrat"/>
              </a:rPr>
              <a:t>EXEMPLE CONCRET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26690" y="5356027"/>
            <a:ext cx="11765310" cy="185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Montserrat"/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L'expectile élevée privilégie les bonnes actions sans extrapoler hors-distribution-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26690" y="5842992"/>
            <a:ext cx="20878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4D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0D2B4D"/>
                </a:solidFill>
                <a:latin typeface="Montserrat"/>
                <a:ea typeface="Montserrat"/>
                <a:cs typeface="Montserrat"/>
                <a:sym typeface="Montserrat"/>
              </a:rPr>
              <a:t>CONTINUUM 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7046863" y="6062365"/>
            <a:ext cx="4352479" cy="36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Montserrat"/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Courbes d'expectile pour différentes valeurs de τ — les valeurs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Montserrat"/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élevées de τ capturent les quantiles supérieurs de la distribution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11631067" y="6638479"/>
            <a:ext cx="560933" cy="157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Montserrat"/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 / 11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4" name="Google Shape;1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164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875" y="534888"/>
            <a:ext cx="73075" cy="617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7" name="Google Shape;19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7875" y="1440061"/>
            <a:ext cx="4803577" cy="4032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8" name="Google Shape;19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7875" y="1440061"/>
            <a:ext cx="4803577" cy="150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9" name="Google Shape;199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7082" y="3278088"/>
            <a:ext cx="4145161" cy="9188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0" name="Google Shape;200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90879" y="1440061"/>
            <a:ext cx="4803577" cy="4032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1" name="Google Shape;201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90879" y="1440061"/>
            <a:ext cx="4803577" cy="150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2" name="Google Shape;202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20086" y="3278088"/>
            <a:ext cx="4145161" cy="9188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3" name="Google Shape;203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7875" y="5609779"/>
            <a:ext cx="11435953" cy="9188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4" name="Google Shape;204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778353" y="3758059"/>
            <a:ext cx="3352800" cy="3085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5" name="Google Shape;205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254180" y="3415159"/>
            <a:ext cx="2084784" cy="287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6" name="Google Shape;206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754094" y="2509986"/>
            <a:ext cx="2828479" cy="5896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7" name="Google Shape;207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181600" y="3291780"/>
            <a:ext cx="1572667" cy="1851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109192" y="3785592"/>
            <a:ext cx="2426196" cy="281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84957" y="3429000"/>
            <a:ext cx="1877467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0" name="Google Shape;210;p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524000" y="2338536"/>
            <a:ext cx="2755255" cy="87094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7"/>
          <p:cNvSpPr/>
          <p:nvPr/>
        </p:nvSpPr>
        <p:spPr>
          <a:xfrm>
            <a:off x="597396" y="493663"/>
            <a:ext cx="11594604" cy="397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F3F"/>
              </a:buClr>
              <a:buSzPts val="2850"/>
              <a:buFont typeface="Roboto"/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Roboto"/>
                <a:ea typeface="Roboto"/>
                <a:cs typeface="Roboto"/>
                <a:sym typeface="Roboto"/>
              </a:rPr>
              <a:t>Architecture des Réseaux V et Q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609600" y="939403"/>
            <a:ext cx="11582400" cy="239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25"/>
              <a:buFont typeface="Roboto"/>
              <a:buNone/>
            </a:pPr>
            <a:r>
              <a:rPr b="0" i="0" lang="en-US" sz="1725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Deux réseaux distincts — deux rôles distincts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2060377" y="1659582"/>
            <a:ext cx="3523297" cy="294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F3F"/>
              </a:buClr>
              <a:buSzPts val="2025"/>
              <a:buFont typeface="Roboto"/>
              <a:buNone/>
            </a:pPr>
            <a:r>
              <a:rPr b="1" i="0" lang="en-US" sz="2025" u="none" cap="none" strike="noStrike">
                <a:solidFill>
                  <a:srgbClr val="001F3F"/>
                </a:solidFill>
                <a:latin typeface="Roboto"/>
                <a:ea typeface="Roboto"/>
                <a:cs typeface="Roboto"/>
                <a:sym typeface="Roboto"/>
              </a:rPr>
              <a:t>Réseau V(s)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1450777" y="2002482"/>
            <a:ext cx="7492365" cy="198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B800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E6B800"/>
                </a:solidFill>
                <a:latin typeface="Roboto"/>
                <a:ea typeface="Roboto"/>
                <a:cs typeface="Roboto"/>
                <a:sym typeface="Roboto"/>
              </a:rPr>
              <a:t>Régression Expectile sur les Actions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1243459" y="4334173"/>
            <a:ext cx="8658225" cy="198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B800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E6B800"/>
                </a:solidFill>
                <a:latin typeface="Roboto"/>
                <a:ea typeface="Roboto"/>
                <a:cs typeface="Roboto"/>
                <a:sym typeface="Roboto"/>
              </a:rPr>
              <a:t>Asymétrique : poids plus élevé pour A &gt; 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33859" y="4670227"/>
            <a:ext cx="3511153" cy="397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● → L'expectile est appliqué uniquement sur 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distribution des actions du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633859" y="5143500"/>
            <a:ext cx="8521065" cy="191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● → Jamais d'évaluation hors-distribution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327898" y="2599134"/>
            <a:ext cx="1304479" cy="5691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SÉPARATION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ARCHITECTURALE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CLÉ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387953" y="1659582"/>
            <a:ext cx="3804047" cy="294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F3F"/>
              </a:buClr>
              <a:buSzPts val="2025"/>
              <a:buFont typeface="Roboto"/>
              <a:buNone/>
            </a:pPr>
            <a:r>
              <a:rPr b="1" i="0" lang="en-US" sz="2025" u="none" cap="none" strike="noStrike">
                <a:solidFill>
                  <a:srgbClr val="001F3F"/>
                </a:solidFill>
                <a:latin typeface="Roboto"/>
                <a:ea typeface="Roboto"/>
                <a:cs typeface="Roboto"/>
                <a:sym typeface="Roboto"/>
              </a:rPr>
              <a:t>Réseau Q(s,a)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7936855" y="2002482"/>
            <a:ext cx="4255145" cy="191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MSE Classique sur les Transitions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7437090" y="4334173"/>
            <a:ext cx="4754910" cy="191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MSE : moyenne sur la stochasticité des transitions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7046863" y="4704457"/>
            <a:ext cx="5145137" cy="198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● → Évite de favoriser des transitions chanceuses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7046863" y="5054203"/>
            <a:ext cx="5145137" cy="191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● → Propagation stable des récompenses futures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743748" y="5685234"/>
            <a:ext cx="2679948" cy="21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B800"/>
              </a:buClr>
              <a:buSzPts val="1500"/>
              <a:buFont typeface="Roboto"/>
              <a:buNone/>
            </a:pPr>
            <a:r>
              <a:rPr b="1" i="0" lang="en-US" sz="1500" u="none" cap="none" strike="noStrike">
                <a:solidFill>
                  <a:srgbClr val="E6B800"/>
                </a:solidFill>
                <a:latin typeface="Roboto"/>
                <a:ea typeface="Roboto"/>
                <a:cs typeface="Roboto"/>
                <a:sym typeface="Roboto"/>
              </a:rPr>
              <a:t>POINT CLÉ ARCHITECTURAL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01117" y="5966371"/>
            <a:ext cx="10977265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L'optimisme (expectile supérieur) est appliqué aux actions — les transitions sont moyennées normalement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1225004" y="6302425"/>
            <a:ext cx="9668619" cy="212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Cette séparation V/Q est ce qui permet à IQL d'éviter simultanément l'extrapolation et le biais des transitions stochastiques.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2026-06-15T22:54:08Z</dcterms:created>
  <dc:creator>PptxGenJS</dc:creator>
</cp:coreProperties>
</file>